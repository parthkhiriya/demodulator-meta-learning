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Yeseva One" charset="1" panose="00000500000000000000"/>
      <p:regular r:id="rId17"/>
    </p:embeddedFont>
    <p:embeddedFont>
      <p:font typeface="Garet" charset="1" panose="00000000000000000000"/>
      <p:regular r:id="rId18"/>
    </p:embeddedFont>
    <p:embeddedFont>
      <p:font typeface="Canva Sans Bold" charset="1" panose="020B0803030501040103"/>
      <p:regular r:id="rId19"/>
    </p:embeddedFont>
    <p:embeddedFont>
      <p:font typeface="Garet Bold" charset="1" panose="00000000000000000000"/>
      <p:regular r:id="rId20"/>
    </p:embeddedFont>
    <p:embeddedFont>
      <p:font typeface="Canva Sans" charset="1" panose="020B05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4314" y="800100"/>
            <a:ext cx="14679282" cy="200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50"/>
              </a:lnSpc>
            </a:pPr>
            <a:r>
              <a:rPr lang="en-US" sz="11679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Title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83666" y="2874945"/>
            <a:ext cx="11680579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Learning</a:t>
            </a:r>
            <a:r>
              <a:rPr lang="en-US" sz="5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How to Demodulate from Few Pilots via Meta-Learning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20106" y="7508875"/>
            <a:ext cx="11680579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Group - 11</a:t>
            </a:r>
          </a:p>
          <a:p>
            <a:pPr algn="ctr">
              <a:lnSpc>
                <a:spcPts val="700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947572" y="7832381"/>
            <a:ext cx="2495255" cy="757290"/>
            <a:chOff x="0" y="0"/>
            <a:chExt cx="657186" cy="1994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7186" cy="199451"/>
            </a:xfrm>
            <a:custGeom>
              <a:avLst/>
              <a:gdLst/>
              <a:ahLst/>
              <a:cxnLst/>
              <a:rect r="r" b="b" t="t" l="l"/>
              <a:pathLst>
                <a:path h="199451" w="657186">
                  <a:moveTo>
                    <a:pt x="99725" y="0"/>
                  </a:moveTo>
                  <a:lnTo>
                    <a:pt x="557461" y="0"/>
                  </a:lnTo>
                  <a:cubicBezTo>
                    <a:pt x="612538" y="0"/>
                    <a:pt x="657186" y="44649"/>
                    <a:pt x="657186" y="99725"/>
                  </a:cubicBezTo>
                  <a:lnTo>
                    <a:pt x="657186" y="99725"/>
                  </a:lnTo>
                  <a:cubicBezTo>
                    <a:pt x="657186" y="154802"/>
                    <a:pt x="612538" y="199451"/>
                    <a:pt x="557461" y="199451"/>
                  </a:cubicBezTo>
                  <a:lnTo>
                    <a:pt x="99725" y="199451"/>
                  </a:lnTo>
                  <a:cubicBezTo>
                    <a:pt x="44649" y="199451"/>
                    <a:pt x="0" y="154802"/>
                    <a:pt x="0" y="99725"/>
                  </a:cubicBezTo>
                  <a:lnTo>
                    <a:pt x="0" y="99725"/>
                  </a:lnTo>
                  <a:cubicBezTo>
                    <a:pt x="0" y="44649"/>
                    <a:pt x="44649" y="0"/>
                    <a:pt x="99725" y="0"/>
                  </a:cubicBezTo>
                  <a:close/>
                </a:path>
              </a:pathLst>
            </a:custGeom>
            <a:solidFill>
              <a:srgbClr val="C7DEE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57186" cy="237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less information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104302" y="7812676"/>
            <a:ext cx="2480639" cy="776995"/>
            <a:chOff x="0" y="0"/>
            <a:chExt cx="653337" cy="2046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3337" cy="204641"/>
            </a:xfrm>
            <a:custGeom>
              <a:avLst/>
              <a:gdLst/>
              <a:ahLst/>
              <a:cxnLst/>
              <a:rect r="r" b="b" t="t" l="l"/>
              <a:pathLst>
                <a:path h="204641" w="653337">
                  <a:moveTo>
                    <a:pt x="102320" y="0"/>
                  </a:moveTo>
                  <a:lnTo>
                    <a:pt x="551017" y="0"/>
                  </a:lnTo>
                  <a:cubicBezTo>
                    <a:pt x="578154" y="0"/>
                    <a:pt x="604179" y="10780"/>
                    <a:pt x="623368" y="29969"/>
                  </a:cubicBezTo>
                  <a:cubicBezTo>
                    <a:pt x="642557" y="49158"/>
                    <a:pt x="653337" y="75183"/>
                    <a:pt x="653337" y="102320"/>
                  </a:cubicBezTo>
                  <a:lnTo>
                    <a:pt x="653337" y="102320"/>
                  </a:lnTo>
                  <a:cubicBezTo>
                    <a:pt x="653337" y="129457"/>
                    <a:pt x="642557" y="155483"/>
                    <a:pt x="623368" y="174672"/>
                  </a:cubicBezTo>
                  <a:cubicBezTo>
                    <a:pt x="604179" y="193860"/>
                    <a:pt x="578154" y="204641"/>
                    <a:pt x="551017" y="204641"/>
                  </a:cubicBezTo>
                  <a:lnTo>
                    <a:pt x="102320" y="204641"/>
                  </a:lnTo>
                  <a:cubicBezTo>
                    <a:pt x="75183" y="204641"/>
                    <a:pt x="49158" y="193860"/>
                    <a:pt x="29969" y="174672"/>
                  </a:cubicBezTo>
                  <a:cubicBezTo>
                    <a:pt x="10780" y="155483"/>
                    <a:pt x="0" y="129457"/>
                    <a:pt x="0" y="102320"/>
                  </a:cubicBezTo>
                  <a:lnTo>
                    <a:pt x="0" y="102320"/>
                  </a:lnTo>
                  <a:cubicBezTo>
                    <a:pt x="0" y="75183"/>
                    <a:pt x="10780" y="49158"/>
                    <a:pt x="29969" y="29969"/>
                  </a:cubicBezTo>
                  <a:cubicBezTo>
                    <a:pt x="49158" y="10780"/>
                    <a:pt x="75183" y="0"/>
                    <a:pt x="102320" y="0"/>
                  </a:cubicBezTo>
                  <a:close/>
                </a:path>
              </a:pathLst>
            </a:custGeom>
            <a:solidFill>
              <a:srgbClr val="65A4C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53337" cy="242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57820" y="7812676"/>
            <a:ext cx="2480639" cy="776995"/>
            <a:chOff x="0" y="0"/>
            <a:chExt cx="653337" cy="2046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3337" cy="204641"/>
            </a:xfrm>
            <a:custGeom>
              <a:avLst/>
              <a:gdLst/>
              <a:ahLst/>
              <a:cxnLst/>
              <a:rect r="r" b="b" t="t" l="l"/>
              <a:pathLst>
                <a:path h="204641" w="653337">
                  <a:moveTo>
                    <a:pt x="102320" y="0"/>
                  </a:moveTo>
                  <a:lnTo>
                    <a:pt x="551017" y="0"/>
                  </a:lnTo>
                  <a:cubicBezTo>
                    <a:pt x="578154" y="0"/>
                    <a:pt x="604179" y="10780"/>
                    <a:pt x="623368" y="29969"/>
                  </a:cubicBezTo>
                  <a:cubicBezTo>
                    <a:pt x="642557" y="49158"/>
                    <a:pt x="653337" y="75183"/>
                    <a:pt x="653337" y="102320"/>
                  </a:cubicBezTo>
                  <a:lnTo>
                    <a:pt x="653337" y="102320"/>
                  </a:lnTo>
                  <a:cubicBezTo>
                    <a:pt x="653337" y="129457"/>
                    <a:pt x="642557" y="155483"/>
                    <a:pt x="623368" y="174672"/>
                  </a:cubicBezTo>
                  <a:cubicBezTo>
                    <a:pt x="604179" y="193860"/>
                    <a:pt x="578154" y="204641"/>
                    <a:pt x="551017" y="204641"/>
                  </a:cubicBezTo>
                  <a:lnTo>
                    <a:pt x="102320" y="204641"/>
                  </a:lnTo>
                  <a:cubicBezTo>
                    <a:pt x="75183" y="204641"/>
                    <a:pt x="49158" y="193860"/>
                    <a:pt x="29969" y="174672"/>
                  </a:cubicBezTo>
                  <a:cubicBezTo>
                    <a:pt x="10780" y="155483"/>
                    <a:pt x="0" y="129457"/>
                    <a:pt x="0" y="102320"/>
                  </a:cubicBezTo>
                  <a:lnTo>
                    <a:pt x="0" y="102320"/>
                  </a:lnTo>
                  <a:cubicBezTo>
                    <a:pt x="0" y="75183"/>
                    <a:pt x="10780" y="49158"/>
                    <a:pt x="29969" y="29969"/>
                  </a:cubicBezTo>
                  <a:cubicBezTo>
                    <a:pt x="49158" y="10780"/>
                    <a:pt x="75183" y="0"/>
                    <a:pt x="102320" y="0"/>
                  </a:cubicBezTo>
                  <a:close/>
                </a:path>
              </a:pathLst>
            </a:custGeom>
            <a:solidFill>
              <a:srgbClr val="65A4C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53337" cy="242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0800000">
            <a:off x="5922856" y="7832381"/>
            <a:ext cx="1176797" cy="768532"/>
            <a:chOff x="0" y="0"/>
            <a:chExt cx="647700" cy="42299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7700" cy="422994"/>
            </a:xfrm>
            <a:custGeom>
              <a:avLst/>
              <a:gdLst/>
              <a:ahLst/>
              <a:cxnLst/>
              <a:rect r="r" b="b" t="t" l="l"/>
              <a:pathLst>
                <a:path h="422994" w="647700">
                  <a:moveTo>
                    <a:pt x="239386" y="165702"/>
                  </a:moveTo>
                  <a:lnTo>
                    <a:pt x="647700" y="165702"/>
                  </a:lnTo>
                  <a:lnTo>
                    <a:pt x="647700" y="257274"/>
                  </a:lnTo>
                  <a:lnTo>
                    <a:pt x="239373" y="257274"/>
                  </a:lnTo>
                  <a:lnTo>
                    <a:pt x="302255" y="422994"/>
                  </a:lnTo>
                  <a:lnTo>
                    <a:pt x="0" y="211497"/>
                  </a:lnTo>
                  <a:lnTo>
                    <a:pt x="302255" y="0"/>
                  </a:lnTo>
                  <a:lnTo>
                    <a:pt x="239386" y="16570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20650" y="127000"/>
              <a:ext cx="527050" cy="130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457820" y="1300799"/>
            <a:ext cx="13372359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Problem Undersatanding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75991" y="3031126"/>
            <a:ext cx="13536017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 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IoT systems, devices transmit very short packets, so only a few pilot symbols are available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communication channel introduces: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Noise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Time variations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Non-linear distortions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Due to limited pilot data, the receiver cannot accurately learn channel behavior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1429943" y="8022113"/>
            <a:ext cx="582935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poor learning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71524" y="5556408"/>
            <a:ext cx="468795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594297" y="8012261"/>
            <a:ext cx="2480639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Less pilots </a:t>
            </a:r>
          </a:p>
        </p:txBody>
      </p:sp>
      <p:grpSp>
        <p:nvGrpSpPr>
          <p:cNvPr name="Group 23" id="23"/>
          <p:cNvGrpSpPr/>
          <p:nvPr/>
        </p:nvGrpSpPr>
        <p:grpSpPr>
          <a:xfrm rot="-10800000">
            <a:off x="11185166" y="7832381"/>
            <a:ext cx="1176797" cy="768532"/>
            <a:chOff x="0" y="0"/>
            <a:chExt cx="647700" cy="4229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7700" cy="422994"/>
            </a:xfrm>
            <a:custGeom>
              <a:avLst/>
              <a:gdLst/>
              <a:ahLst/>
              <a:cxnLst/>
              <a:rect r="r" b="b" t="t" l="l"/>
              <a:pathLst>
                <a:path h="422994" w="647700">
                  <a:moveTo>
                    <a:pt x="239386" y="165702"/>
                  </a:moveTo>
                  <a:lnTo>
                    <a:pt x="647700" y="165702"/>
                  </a:lnTo>
                  <a:lnTo>
                    <a:pt x="647700" y="257274"/>
                  </a:lnTo>
                  <a:lnTo>
                    <a:pt x="239373" y="257274"/>
                  </a:lnTo>
                  <a:lnTo>
                    <a:pt x="302255" y="422994"/>
                  </a:lnTo>
                  <a:lnTo>
                    <a:pt x="0" y="211497"/>
                  </a:lnTo>
                  <a:lnTo>
                    <a:pt x="302255" y="0"/>
                  </a:lnTo>
                  <a:lnTo>
                    <a:pt x="239386" y="16570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20650" y="127000"/>
              <a:ext cx="527050" cy="130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888716" y="1604681"/>
            <a:ext cx="1419662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Limitation of Traditional Method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8354" y="3044895"/>
            <a:ext cx="14530483" cy="687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Conventional techniques first estimate the channel using pilot symbols</a:t>
            </a:r>
          </a:p>
          <a:p>
            <a:pPr algn="l" marL="647700" indent="-323850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These methods a</a:t>
            </a:r>
            <a:r>
              <a:rPr lang="en-US" sz="2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ssume:</a:t>
            </a:r>
          </a:p>
          <a:p>
            <a:pPr algn="l" marL="647700" indent="-323850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Sufficient pilot data</a:t>
            </a:r>
          </a:p>
          <a:p>
            <a:pPr algn="l" marL="647700" indent="-323850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Known or simple channel models</a:t>
            </a:r>
          </a:p>
          <a:p>
            <a:pPr algn="l" marL="647700" indent="-323850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 practic</a:t>
            </a:r>
            <a:r>
              <a:rPr lang="en-US" sz="2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al IoT scenarios, these assumptions do not hold</a:t>
            </a:r>
          </a:p>
          <a:p>
            <a:pPr algn="l" marL="647700" indent="-323850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Result: Cha</a:t>
            </a:r>
            <a:r>
              <a:rPr lang="en-US" sz="2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nnel estimation becomes inaccurate, leading to poor symbol detection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5599"/>
              </a:lnSpc>
            </a:pPr>
          </a:p>
          <a:p>
            <a:pPr algn="l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2322115" y="7464272"/>
            <a:ext cx="13922959" cy="1215792"/>
            <a:chOff x="0" y="0"/>
            <a:chExt cx="3666952" cy="3202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66952" cy="320209"/>
            </a:xfrm>
            <a:custGeom>
              <a:avLst/>
              <a:gdLst/>
              <a:ahLst/>
              <a:cxnLst/>
              <a:rect r="r" b="b" t="t" l="l"/>
              <a:pathLst>
                <a:path h="320209" w="3666952">
                  <a:moveTo>
                    <a:pt x="28359" y="0"/>
                  </a:moveTo>
                  <a:lnTo>
                    <a:pt x="3638593" y="0"/>
                  </a:lnTo>
                  <a:cubicBezTo>
                    <a:pt x="3646115" y="0"/>
                    <a:pt x="3653328" y="2988"/>
                    <a:pt x="3658646" y="8306"/>
                  </a:cubicBezTo>
                  <a:cubicBezTo>
                    <a:pt x="3663964" y="13624"/>
                    <a:pt x="3666952" y="20838"/>
                    <a:pt x="3666952" y="28359"/>
                  </a:cubicBezTo>
                  <a:lnTo>
                    <a:pt x="3666952" y="291850"/>
                  </a:lnTo>
                  <a:cubicBezTo>
                    <a:pt x="3666952" y="307512"/>
                    <a:pt x="3654256" y="320209"/>
                    <a:pt x="3638593" y="320209"/>
                  </a:cubicBezTo>
                  <a:lnTo>
                    <a:pt x="28359" y="320209"/>
                  </a:lnTo>
                  <a:cubicBezTo>
                    <a:pt x="20838" y="320209"/>
                    <a:pt x="13624" y="317221"/>
                    <a:pt x="8306" y="311902"/>
                  </a:cubicBezTo>
                  <a:cubicBezTo>
                    <a:pt x="2988" y="306584"/>
                    <a:pt x="0" y="299371"/>
                    <a:pt x="0" y="291850"/>
                  </a:cubicBezTo>
                  <a:lnTo>
                    <a:pt x="0" y="28359"/>
                  </a:lnTo>
                  <a:cubicBezTo>
                    <a:pt x="0" y="20838"/>
                    <a:pt x="2988" y="13624"/>
                    <a:pt x="8306" y="8306"/>
                  </a:cubicBezTo>
                  <a:cubicBezTo>
                    <a:pt x="13624" y="2988"/>
                    <a:pt x="20838" y="0"/>
                    <a:pt x="28359" y="0"/>
                  </a:cubicBezTo>
                  <a:close/>
                </a:path>
              </a:pathLst>
            </a:custGeom>
            <a:solidFill>
              <a:srgbClr val="65A4C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666952" cy="377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Traditional methods depend on accurate channel estimation, which is not possible here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138615" y="1626180"/>
            <a:ext cx="1201077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ML-Based Approach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6110" y="3470865"/>
            <a:ext cx="15555779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3" indent="-323852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Instead of estimating the channel, d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emodulation is modeled as a data-driven classification problem</a:t>
            </a:r>
          </a:p>
          <a:p>
            <a:pPr algn="l" marL="647703" indent="-323852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n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eural network is trained to map:</a:t>
            </a:r>
          </a:p>
          <a:p>
            <a:pPr algn="l" marL="647703" indent="-323852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Received signal → Transmitted symbol</a:t>
            </a:r>
          </a:p>
          <a:p>
            <a:pPr algn="l" marL="647703" indent="-323852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model l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earns the combined effect of channel, noise, and distortion directly from data</a:t>
            </a:r>
          </a:p>
          <a:p>
            <a:pPr algn="l" marL="647703" indent="-323852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Benefit: Removes dependency on explicit channel estimation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446422" y="2064263"/>
            <a:ext cx="1093042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Meta-Learning Idea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15805" y="3749522"/>
            <a:ext cx="14935580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Each d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evice experiences a different channel, so it can be treated as a separate learning task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Meta-learning trains the model across multiple such tasks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allows the model to learn shared patterns and structures across devices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2322115" y="7464272"/>
            <a:ext cx="13922959" cy="1215792"/>
            <a:chOff x="0" y="0"/>
            <a:chExt cx="3666952" cy="3202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66952" cy="320209"/>
            </a:xfrm>
            <a:custGeom>
              <a:avLst/>
              <a:gdLst/>
              <a:ahLst/>
              <a:cxnLst/>
              <a:rect r="r" b="b" t="t" l="l"/>
              <a:pathLst>
                <a:path h="320209" w="3666952">
                  <a:moveTo>
                    <a:pt x="28359" y="0"/>
                  </a:moveTo>
                  <a:lnTo>
                    <a:pt x="3638593" y="0"/>
                  </a:lnTo>
                  <a:cubicBezTo>
                    <a:pt x="3646115" y="0"/>
                    <a:pt x="3653328" y="2988"/>
                    <a:pt x="3658646" y="8306"/>
                  </a:cubicBezTo>
                  <a:cubicBezTo>
                    <a:pt x="3663964" y="13624"/>
                    <a:pt x="3666952" y="20838"/>
                    <a:pt x="3666952" y="28359"/>
                  </a:cubicBezTo>
                  <a:lnTo>
                    <a:pt x="3666952" y="291850"/>
                  </a:lnTo>
                  <a:cubicBezTo>
                    <a:pt x="3666952" y="307512"/>
                    <a:pt x="3654256" y="320209"/>
                    <a:pt x="3638593" y="320209"/>
                  </a:cubicBezTo>
                  <a:lnTo>
                    <a:pt x="28359" y="320209"/>
                  </a:lnTo>
                  <a:cubicBezTo>
                    <a:pt x="20838" y="320209"/>
                    <a:pt x="13624" y="317221"/>
                    <a:pt x="8306" y="311902"/>
                  </a:cubicBezTo>
                  <a:cubicBezTo>
                    <a:pt x="2988" y="306584"/>
                    <a:pt x="0" y="299371"/>
                    <a:pt x="0" y="291850"/>
                  </a:cubicBezTo>
                  <a:lnTo>
                    <a:pt x="0" y="28359"/>
                  </a:lnTo>
                  <a:cubicBezTo>
                    <a:pt x="0" y="20838"/>
                    <a:pt x="2988" y="13624"/>
                    <a:pt x="8306" y="8306"/>
                  </a:cubicBezTo>
                  <a:cubicBezTo>
                    <a:pt x="13624" y="2988"/>
                    <a:pt x="20838" y="0"/>
                    <a:pt x="28359" y="0"/>
                  </a:cubicBezTo>
                  <a:close/>
                </a:path>
              </a:pathLst>
            </a:custGeom>
            <a:solidFill>
              <a:srgbClr val="65A4C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666952" cy="377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The model can quickly adapt to a new device using only a few pilots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760772" y="600075"/>
            <a:ext cx="6492683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﻿Research Methods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24893" y="1879737"/>
            <a:ext cx="10038214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 Why MAML Work</a:t>
            </a:r>
            <a:r>
              <a:rPr lang="en-US" sz="60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23720" y="3367439"/>
            <a:ext cx="14935580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MAM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 learns an initial set of parameters that is not task-specific but easily adaptable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During training, it optimizes the model such that small updates with limited data lead to good performance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makes it highl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 suitable for scenarios with few training samples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Key idea:</a:t>
            </a:r>
          </a:p>
          <a:p>
            <a:pPr algn="l">
              <a:lnSpc>
                <a:spcPts val="420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2694544" y="7133266"/>
            <a:ext cx="9962156" cy="1738052"/>
            <a:chOff x="0" y="0"/>
            <a:chExt cx="2623778" cy="4577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23778" cy="457759"/>
            </a:xfrm>
            <a:custGeom>
              <a:avLst/>
              <a:gdLst/>
              <a:ahLst/>
              <a:cxnLst/>
              <a:rect r="r" b="b" t="t" l="l"/>
              <a:pathLst>
                <a:path h="457759" w="2623778">
                  <a:moveTo>
                    <a:pt x="39634" y="0"/>
                  </a:moveTo>
                  <a:lnTo>
                    <a:pt x="2584144" y="0"/>
                  </a:lnTo>
                  <a:cubicBezTo>
                    <a:pt x="2594656" y="0"/>
                    <a:pt x="2604737" y="4176"/>
                    <a:pt x="2612169" y="11608"/>
                  </a:cubicBezTo>
                  <a:cubicBezTo>
                    <a:pt x="2619602" y="19041"/>
                    <a:pt x="2623778" y="29122"/>
                    <a:pt x="2623778" y="39634"/>
                  </a:cubicBezTo>
                  <a:lnTo>
                    <a:pt x="2623778" y="418125"/>
                  </a:lnTo>
                  <a:cubicBezTo>
                    <a:pt x="2623778" y="440014"/>
                    <a:pt x="2606033" y="457759"/>
                    <a:pt x="2584144" y="457759"/>
                  </a:cubicBezTo>
                  <a:lnTo>
                    <a:pt x="39634" y="457759"/>
                  </a:lnTo>
                  <a:cubicBezTo>
                    <a:pt x="29122" y="457759"/>
                    <a:pt x="19041" y="453583"/>
                    <a:pt x="11608" y="446150"/>
                  </a:cubicBezTo>
                  <a:cubicBezTo>
                    <a:pt x="4176" y="438717"/>
                    <a:pt x="0" y="428636"/>
                    <a:pt x="0" y="418125"/>
                  </a:cubicBezTo>
                  <a:lnTo>
                    <a:pt x="0" y="39634"/>
                  </a:lnTo>
                  <a:cubicBezTo>
                    <a:pt x="0" y="29122"/>
                    <a:pt x="4176" y="19041"/>
                    <a:pt x="11608" y="11608"/>
                  </a:cubicBezTo>
                  <a:cubicBezTo>
                    <a:pt x="19041" y="4176"/>
                    <a:pt x="29122" y="0"/>
                    <a:pt x="39634" y="0"/>
                  </a:cubicBezTo>
                  <a:close/>
                </a:path>
              </a:pathLst>
            </a:custGeom>
            <a:solidFill>
              <a:srgbClr val="65A4C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623778" cy="514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Traditional ML focuses on accuracy for one task</a:t>
              </a:r>
            </a:p>
            <a:p>
              <a:pPr algn="ctr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MAML focuses on fast adaptability across tasks</a:t>
              </a: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584069" y="1557509"/>
            <a:ext cx="7119863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Analyzed 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6210" y="3028950"/>
            <a:ext cx="14852607" cy="423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Rapid Adaptation: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MAML achieves an order of magnitude lower error (10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-2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SER) than Joint Training with only 4 pilots (Fig. 4).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Realistic Robustness: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Outperforms conventional methods in fading channels, reaching 0.3 SER at 16 pilots (Fig. 6).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Increased Confidence: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Fig. 5 shows probability distributions shifting from uncertain (overlapping) to sharp peaks (distinct) after adaptation, ensuring accurate symbol recovery.</a:t>
            </a:r>
          </a:p>
          <a:p>
            <a:pPr algn="l">
              <a:lnSpc>
                <a:spcPts val="4176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98406" y="4316329"/>
            <a:ext cx="7960894" cy="5970671"/>
          </a:xfrm>
          <a:custGeom>
            <a:avLst/>
            <a:gdLst/>
            <a:ahLst/>
            <a:cxnLst/>
            <a:rect r="r" b="b" t="t" l="l"/>
            <a:pathLst>
              <a:path h="5970671" w="7960894">
                <a:moveTo>
                  <a:pt x="0" y="0"/>
                </a:moveTo>
                <a:lnTo>
                  <a:pt x="7960894" y="0"/>
                </a:lnTo>
                <a:lnTo>
                  <a:pt x="7960894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188185"/>
            <a:ext cx="7910630" cy="7910630"/>
          </a:xfrm>
          <a:custGeom>
            <a:avLst/>
            <a:gdLst/>
            <a:ahLst/>
            <a:cxnLst/>
            <a:rect r="r" b="b" t="t" l="l"/>
            <a:pathLst>
              <a:path h="7910630" w="7910630">
                <a:moveTo>
                  <a:pt x="0" y="0"/>
                </a:moveTo>
                <a:lnTo>
                  <a:pt x="7910630" y="0"/>
                </a:lnTo>
                <a:lnTo>
                  <a:pt x="7910630" y="7910630"/>
                </a:lnTo>
                <a:lnTo>
                  <a:pt x="0" y="7910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61023" y="-249383"/>
            <a:ext cx="6429684" cy="4822263"/>
          </a:xfrm>
          <a:custGeom>
            <a:avLst/>
            <a:gdLst/>
            <a:ahLst/>
            <a:cxnLst/>
            <a:rect r="r" b="b" t="t" l="l"/>
            <a:pathLst>
              <a:path h="4822263" w="6429684">
                <a:moveTo>
                  <a:pt x="0" y="0"/>
                </a:moveTo>
                <a:lnTo>
                  <a:pt x="6429684" y="0"/>
                </a:lnTo>
                <a:lnTo>
                  <a:pt x="6429684" y="4822263"/>
                </a:lnTo>
                <a:lnTo>
                  <a:pt x="0" y="48222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584069" y="1557509"/>
            <a:ext cx="7119863" cy="1047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Novelties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7697" y="2904339"/>
            <a:ext cx="14852607" cy="640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4D Physics-Informed Input: 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Added Magnitude and Phase to 2D I/Q to capture non-linear distortion.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ResNet Backbone: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Replaced MLP with Residual blocks for superior feature extraction.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Online Adaption: 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Implemented a Replay Buffer for continuous learning without forgetting.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u="sng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The Results: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Efficiency: 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Achieves 10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-2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SER with only 4 pilots (Fig. 4).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Online Gain: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proposed 4D-ResNet reduces error by ~35% over 3000 time slots compared to baseline.</a:t>
            </a:r>
          </a:p>
          <a:p>
            <a:pPr algn="l">
              <a:lnSpc>
                <a:spcPts val="4455"/>
              </a:lnSpc>
            </a:pPr>
          </a:p>
          <a:p>
            <a:pPr algn="l">
              <a:lnSpc>
                <a:spcPts val="4176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7718"/>
            <a:ext cx="6758869" cy="5069152"/>
          </a:xfrm>
          <a:custGeom>
            <a:avLst/>
            <a:gdLst/>
            <a:ahLst/>
            <a:cxnLst/>
            <a:rect r="r" b="b" t="t" l="l"/>
            <a:pathLst>
              <a:path h="5069152" w="6758869">
                <a:moveTo>
                  <a:pt x="0" y="0"/>
                </a:moveTo>
                <a:lnTo>
                  <a:pt x="6758869" y="0"/>
                </a:lnTo>
                <a:lnTo>
                  <a:pt x="6758869" y="5069152"/>
                </a:lnTo>
                <a:lnTo>
                  <a:pt x="0" y="5069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52964" y="381089"/>
            <a:ext cx="7148084" cy="4762411"/>
          </a:xfrm>
          <a:custGeom>
            <a:avLst/>
            <a:gdLst/>
            <a:ahLst/>
            <a:cxnLst/>
            <a:rect r="r" b="b" t="t" l="l"/>
            <a:pathLst>
              <a:path h="4762411" w="7148084">
                <a:moveTo>
                  <a:pt x="0" y="0"/>
                </a:moveTo>
                <a:lnTo>
                  <a:pt x="7148085" y="0"/>
                </a:lnTo>
                <a:lnTo>
                  <a:pt x="7148085" y="4762411"/>
                </a:lnTo>
                <a:lnTo>
                  <a:pt x="0" y="47624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4924" y="5296870"/>
            <a:ext cx="6192645" cy="4814781"/>
          </a:xfrm>
          <a:custGeom>
            <a:avLst/>
            <a:gdLst/>
            <a:ahLst/>
            <a:cxnLst/>
            <a:rect r="r" b="b" t="t" l="l"/>
            <a:pathLst>
              <a:path h="4814781" w="6192645">
                <a:moveTo>
                  <a:pt x="0" y="0"/>
                </a:moveTo>
                <a:lnTo>
                  <a:pt x="6192645" y="0"/>
                </a:lnTo>
                <a:lnTo>
                  <a:pt x="6192645" y="4814782"/>
                </a:lnTo>
                <a:lnTo>
                  <a:pt x="0" y="48147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52964" y="5296870"/>
            <a:ext cx="6419709" cy="4814781"/>
          </a:xfrm>
          <a:custGeom>
            <a:avLst/>
            <a:gdLst/>
            <a:ahLst/>
            <a:cxnLst/>
            <a:rect r="r" b="b" t="t" l="l"/>
            <a:pathLst>
              <a:path h="4814781" w="6419709">
                <a:moveTo>
                  <a:pt x="0" y="0"/>
                </a:moveTo>
                <a:lnTo>
                  <a:pt x="6419709" y="0"/>
                </a:lnTo>
                <a:lnTo>
                  <a:pt x="6419709" y="4814782"/>
                </a:lnTo>
                <a:lnTo>
                  <a:pt x="0" y="48147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10809" y="1031693"/>
            <a:ext cx="10373714" cy="200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50"/>
              </a:lnSpc>
            </a:pPr>
            <a:r>
              <a:rPr lang="en-US" sz="11679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21759" y="4327525"/>
            <a:ext cx="13776257" cy="404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Group Members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Pragati Khandelwal (B23EE1054)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Parth Khiriya(B23EE1051)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Palli Sunil Kumar (B23EE1050)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Palavalasa Varshith Narayan (B23EE1049)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Nitin Verma (B23EE1048)</a:t>
            </a:r>
          </a:p>
          <a:p>
            <a:pPr algn="l">
              <a:lnSpc>
                <a:spcPts val="700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DAHF-dN6NvQ</dc:identifier>
  <dcterms:modified xsi:type="dcterms:W3CDTF">2011-08-01T06:04:30Z</dcterms:modified>
  <cp:revision>1</cp:revision>
  <dc:title>Title</dc:title>
</cp:coreProperties>
</file>